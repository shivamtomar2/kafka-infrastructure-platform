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as an enterprise-grade Kafka platform on AWS. Emphasize automation, high availability, and disciplined naming and tagging conventions. Mention that the deck will walk through architecture, Terraform, Ansible, Jenkins, Kafka KRaft, validation, and future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business and technical value. Stress repeatable deployments, secure architecture, modular Terraform, Ansible-based configuration, and Jenkins pipeline integration. Position the solution as an enterprise-ready foundation rather than a one-off setup.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the platform exists. Focus on pain points of manual Kafka deployment: drift, poor security, fragile recovery, and lack of standardization. Position the project as the answer to those operational gaps.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solution as an integrated architecture. Cover the layered model: Terraform for infra, Ansible for configuration, Jenkins for orchestration, Kafka KRaft for runtime. Mention network segmentation and security posture.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stack deliberately. Mention the role of AWS, Terraform, Ansible, Jenkins, and Kafka KRaft. Make it clear that each tool has a specific responsibility in the platform delivery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Terraform as the authoritative infrastructure definition. Mention declarative state, modules, variables, outputs, and the importance of version control, reviewability, and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VPC layout carefully. Cover CIDR design, public versus private roles, route tables, IGW, NAT, and why the brokers are intentionally isolated. Reference HA through AZ separation.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role of each EC2 instance type. Bastion is the admin entry point; brokers are the Kafka runtime nodes. Mention Ubuntu AMI consistency, subnet distribution, and security-conscious design.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down the three Terraform modules and the root orchestration layer. Emphasize clean separation of concerns and how outputs and inputs connect the modules together.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remote state matters. Cover S3 for shared state, encryption, and DynamoDB locking for concurrency control. Connect backend decisions to enterprise governance and change safety.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Ansible’s role after Terraform. Mention idempotent playbooks, system preparation, Kafka installation, config templating, and the value of separating infrastructure provisioning from software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Kafka KRaft clearly. Explain why removing ZooKeeper matters, how KRaft simplifies operations, and what still needs careful configuration such as listeners, node IDs, storage, and quorum settings.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Jenkins as the orchestration and pipeline layer. Mention Terraform validation, plan/apply, approvals, Ansible runs, artifacts, and improved operational visibility through centralized execution.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sequence from code commit to validated cluster. Highlight Terraform init/plan/apply, backend locking, outputs, Ansible execution, and post-deployment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deployment success is not enough. Discuss infrastructure validation, service validation, topic creation, producer-consumer testing, and broker log inspection as part of functional readiness.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narrate the demo flow and outcomes. Mention successful infra provisioning, tagging, configuration, and Kafka validation. Focus on the platform operating as a complete automated lifecycle.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realistic implementation challenges and how the architecture addresses them. Cover security, consistency, KRaft complexity, and multi-tool coordination with clear resolutions.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roadmap thinking. Mention monitoring, stronger security, scaling, platform features, and enterprise maturity. End by inviting Q&amp;A and discussion around next priorities.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731520" y="914400"/>
            <a:ext cx="10789920" cy="914400"/>
          </a:xfrm>
          <a:prstGeom prst="rect">
            <a:avLst/>
          </a:prstGeom>
          <a:noFill/>
        </p:spPr>
        <p:txBody>
          <a:bodyPr wrap="none">
            <a:spAutoFit/>
          </a:bodyPr>
          <a:lstStyle/>
          <a:p>
            <a:pPr algn="ctr"/>
            <a:r>
              <a:rPr sz="2800" b="1">
                <a:solidFill>
                  <a:srgbClr val="FF9900"/>
                </a:solidFill>
                <a:latin typeface="Calibri"/>
              </a:rPr>
              <a:t>Kafka Infrastructure Platform</a:t>
            </a:r>
          </a:p>
        </p:txBody>
      </p:sp>
      <p:sp>
        <p:nvSpPr>
          <p:cNvPr id="3" name="TextBox 2"/>
          <p:cNvSpPr txBox="1"/>
          <p:nvPr/>
        </p:nvSpPr>
        <p:spPr>
          <a:xfrm>
            <a:off x="1097280" y="1737360"/>
            <a:ext cx="10058400" cy="640080"/>
          </a:xfrm>
          <a:prstGeom prst="rect">
            <a:avLst/>
          </a:prstGeom>
          <a:noFill/>
        </p:spPr>
        <p:txBody>
          <a:bodyPr wrap="none">
            <a:spAutoFit/>
          </a:bodyPr>
          <a:lstStyle/>
          <a:p>
            <a:pPr algn="ctr"/>
            <a:r>
              <a:rPr sz="2000">
                <a:solidFill>
                  <a:srgbClr val="E6EBF0"/>
                </a:solidFill>
                <a:latin typeface="Calibri"/>
              </a:rPr>
              <a:t>AWS | Terraform Modules | Ansible | Jenkins | Kafka KRaft</a:t>
            </a:r>
          </a:p>
        </p:txBody>
      </p:sp>
      <p:sp>
        <p:nvSpPr>
          <p:cNvPr id="4" name="Rectangle 3"/>
          <p:cNvSpPr/>
          <p:nvPr/>
        </p:nvSpPr>
        <p:spPr>
          <a:xfrm>
            <a:off x="3931920" y="2331720"/>
            <a:ext cx="4297680" cy="457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149840" cy="329184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Enterprise presentation for a highly available Kafka Infrastructure Platform built on AWS with modular Terraform, Ansible automation, Jenkins orchestration, and Kafka running in KRaft mode for modern metadata management.</a:t>
            </a:r>
          </a:p>
          <a:p>
            <a:pPr algn="l">
              <a:lnSpc>
                <a:spcPct val="115000"/>
              </a:lnSpc>
              <a:spcAft>
                <a:spcPts val="1000"/>
              </a:spcAft>
              <a:defRPr sz="1600">
                <a:solidFill>
                  <a:srgbClr val="E6EBF0"/>
                </a:solidFill>
                <a:latin typeface="Calibri"/>
              </a:defRPr>
            </a:pPr>
            <a:r>
              <a:t>The platform is designed around repeatable infrastructure patterns, clean environment isolation, and deterministic resource naming so that provisioning, troubleshooting, and future enhancements remain consistent across the delivery lifecycle.</a:t>
            </a:r>
          </a:p>
          <a:p>
            <a:pPr algn="l">
              <a:lnSpc>
                <a:spcPct val="115000"/>
              </a:lnSpc>
              <a:spcAft>
                <a:spcPts val="1000"/>
              </a:spcAft>
              <a:defRPr sz="1600">
                <a:solidFill>
                  <a:srgbClr val="E6EBF0"/>
                </a:solidFill>
                <a:latin typeface="Calibri"/>
              </a:defRPr>
            </a:pPr>
            <a:r>
              <a:t>The target deployment uses one VPC in us-east-1, a public access layer for bastion and NAT, and three private broker subnets distributed across availability zones to improve resilience and operational separation.</a:t>
            </a:r>
          </a:p>
          <a:p>
            <a:pPr algn="l">
              <a:lnSpc>
                <a:spcPct val="115000"/>
              </a:lnSpc>
              <a:spcAft>
                <a:spcPts val="1000"/>
              </a:spcAft>
              <a:defRPr sz="1600">
                <a:solidFill>
                  <a:srgbClr val="E6EBF0"/>
                </a:solidFill>
                <a:latin typeface="Calibri"/>
              </a:defRPr>
            </a:pPr>
            <a:r>
              <a:t>This presentation explains the architecture, infrastructure components, automation flow, deployment logic, validation approach, and enterprise readiness considerations behind the end-to-end implementation.</a:t>
            </a:r>
          </a:p>
          <a:p>
            <a:pPr algn="l">
              <a:lnSpc>
                <a:spcPct val="115000"/>
              </a:lnSpc>
              <a:spcAft>
                <a:spcPts val="1000"/>
              </a:spcAft>
              <a:defRPr sz="1600">
                <a:solidFill>
                  <a:srgbClr val="E6EBF0"/>
                </a:solidFill>
                <a:latin typeface="Calibri"/>
              </a:defRPr>
            </a:pPr>
            <a:r>
              <a:t>It also highlights how infrastructure as code and configuration management are combined to reduce manual effort, improve auditability, and accelerate repeatable Kafka cluster delivery.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502920" y="228600"/>
            <a:ext cx="11155680" cy="548640"/>
          </a:xfrm>
          <a:prstGeom prst="rect">
            <a:avLst/>
          </a:prstGeom>
          <a:noFill/>
        </p:spPr>
        <p:txBody>
          <a:bodyPr wrap="none">
            <a:spAutoFit/>
          </a:bodyPr>
          <a:lstStyle/>
          <a:p>
            <a:pPr algn="l"/>
            <a:r>
              <a:rPr sz="2400" b="1">
                <a:solidFill>
                  <a:srgbClr val="FF9900"/>
                </a:solidFill>
                <a:latin typeface="Calibri"/>
              </a:rPr>
              <a:t>Executive Summary</a:t>
            </a:r>
          </a:p>
        </p:txBody>
      </p:sp>
      <p:sp>
        <p:nvSpPr>
          <p:cNvPr id="3" name="TextBox 2"/>
          <p:cNvSpPr txBox="1"/>
          <p:nvPr/>
        </p:nvSpPr>
        <p:spPr>
          <a:xfrm>
            <a:off x="685800" y="1051560"/>
            <a:ext cx="10744200" cy="539496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The Kafka Infrastructure Platform provides an automated and reproducible AWS-based foundation for deploying a three-broker Kafka cluster with secure network boundaries, standardized resource tagging, and infrastructure consistency across environments.</a:t>
            </a:r>
          </a:p>
          <a:p>
            <a:pPr algn="l">
              <a:lnSpc>
                <a:spcPct val="115000"/>
              </a:lnSpc>
              <a:spcAft>
                <a:spcPts val="1000"/>
              </a:spcAft>
              <a:defRPr sz="1600">
                <a:solidFill>
                  <a:srgbClr val="E6EBF0"/>
                </a:solidFill>
                <a:latin typeface="Calibri"/>
              </a:defRPr>
            </a:pPr>
            <a:r>
              <a:t>Terraform modules provision the network, security groups, and EC2 compute layers, while Ansible handles post-provisioning configuration of bastion access, broker setup, and Kafka runtime configuration required for KRaft-based cluster formation.</a:t>
            </a:r>
          </a:p>
          <a:p>
            <a:pPr algn="l">
              <a:lnSpc>
                <a:spcPct val="115000"/>
              </a:lnSpc>
              <a:spcAft>
                <a:spcPts val="1000"/>
              </a:spcAft>
              <a:defRPr sz="1600">
                <a:solidFill>
                  <a:srgbClr val="E6EBF0"/>
                </a:solidFill>
                <a:latin typeface="Calibri"/>
              </a:defRPr>
            </a:pPr>
            <a:r>
              <a:t>Jenkins acts as the orchestration layer for infrastructure deployment and operational workflows, enabling a controlled CI/CD style pipeline where code changes can trigger plan, approval, apply, and configuration execution in a predictable sequence.</a:t>
            </a:r>
          </a:p>
          <a:p>
            <a:pPr algn="l">
              <a:lnSpc>
                <a:spcPct val="115000"/>
              </a:lnSpc>
              <a:spcAft>
                <a:spcPts val="1000"/>
              </a:spcAft>
              <a:defRPr sz="1600">
                <a:solidFill>
                  <a:srgbClr val="E6EBF0"/>
                </a:solidFill>
                <a:latin typeface="Calibri"/>
              </a:defRPr>
            </a:pPr>
            <a:r>
              <a:t>The architecture intentionally separates public and private responsibilities, placing brokers in private subnets behind controlled access paths while retaining outbound connectivity through NAT for patching, package installation, and dependency retrieval.</a:t>
            </a:r>
          </a:p>
          <a:p>
            <a:pPr algn="l">
              <a:lnSpc>
                <a:spcPct val="115000"/>
              </a:lnSpc>
              <a:spcAft>
                <a:spcPts val="1000"/>
              </a:spcAft>
              <a:defRPr sz="1600">
                <a:solidFill>
                  <a:srgbClr val="E6EBF0"/>
                </a:solidFill>
                <a:latin typeface="Calibri"/>
              </a:defRPr>
            </a:pPr>
            <a:r>
              <a:t>Overall, the solution demonstrates how cloud infrastructure, configuration management, and streaming platform deployment can be integrated into a single enterprise workflow that prioritizes security, repeatability, and operational clarity.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502920" y="228600"/>
            <a:ext cx="11155680" cy="548640"/>
          </a:xfrm>
          <a:prstGeom prst="rect">
            <a:avLst/>
          </a:prstGeom>
          <a:noFill/>
        </p:spPr>
        <p:txBody>
          <a:bodyPr wrap="none">
            <a:spAutoFit/>
          </a:bodyPr>
          <a:lstStyle/>
          <a:p>
            <a:pPr algn="l"/>
            <a:r>
              <a:rPr sz="2400" b="1">
                <a:solidFill>
                  <a:srgbClr val="FF9900"/>
                </a:solidFill>
                <a:latin typeface="Calibri"/>
              </a:rPr>
              <a:t>Problem Statement &amp; Motivation</a:t>
            </a:r>
          </a:p>
        </p:txBody>
      </p:sp>
      <p:sp>
        <p:nvSpPr>
          <p:cNvPr id="3" name="TextBox 2"/>
          <p:cNvSpPr txBox="1"/>
          <p:nvPr/>
        </p:nvSpPr>
        <p:spPr>
          <a:xfrm>
            <a:off x="685800" y="1051560"/>
            <a:ext cx="10744200" cy="539496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Traditional Kafka deployments often suffer from inconsistent infrastructure provisioning, undocumented manual configuration steps, and environment drift, which collectively increase risk during scaling, recovery, and maintenance activities.</a:t>
            </a:r>
          </a:p>
          <a:p>
            <a:pPr algn="l">
              <a:lnSpc>
                <a:spcPct val="115000"/>
              </a:lnSpc>
              <a:spcAft>
                <a:spcPts val="1000"/>
              </a:spcAft>
              <a:defRPr sz="1600">
                <a:solidFill>
                  <a:srgbClr val="E6EBF0"/>
                </a:solidFill>
                <a:latin typeface="Calibri"/>
              </a:defRPr>
            </a:pPr>
            <a:r>
              <a:t>When cloud resources, security controls, and broker configuration are created manually, teams face repeated operational delays, non-standard naming, incomplete tagging, and avoidable troubleshooting complexity during production incidents or audits.</a:t>
            </a:r>
          </a:p>
          <a:p>
            <a:pPr algn="l">
              <a:lnSpc>
                <a:spcPct val="115000"/>
              </a:lnSpc>
              <a:spcAft>
                <a:spcPts val="1000"/>
              </a:spcAft>
              <a:defRPr sz="1600">
                <a:solidFill>
                  <a:srgbClr val="E6EBF0"/>
                </a:solidFill>
                <a:latin typeface="Calibri"/>
              </a:defRPr>
            </a:pPr>
            <a:r>
              <a:t>High availability requires thoughtful placement of brokers across failure domains, yet many ad hoc deployments overlook subnet design, controlled access paths, and resilient networking patterns needed to support stable enterprise messaging workloads.</a:t>
            </a:r>
          </a:p>
          <a:p>
            <a:pPr algn="l">
              <a:lnSpc>
                <a:spcPct val="115000"/>
              </a:lnSpc>
              <a:spcAft>
                <a:spcPts val="1000"/>
              </a:spcAft>
              <a:defRPr sz="1600">
                <a:solidFill>
                  <a:srgbClr val="E6EBF0"/>
                </a:solidFill>
                <a:latin typeface="Calibri"/>
              </a:defRPr>
            </a:pPr>
            <a:r>
              <a:t>Modern platform teams also need stronger automation across infrastructure and application setup so that brokers can be recreated or expanded with confidence instead of relying on knowledge locked inside individual engineers or temporary scripts.</a:t>
            </a:r>
          </a:p>
          <a:p>
            <a:pPr algn="l">
              <a:lnSpc>
                <a:spcPct val="115000"/>
              </a:lnSpc>
              <a:spcAft>
                <a:spcPts val="1000"/>
              </a:spcAft>
              <a:defRPr sz="1600">
                <a:solidFill>
                  <a:srgbClr val="E6EBF0"/>
                </a:solidFill>
                <a:latin typeface="Calibri"/>
              </a:defRPr>
            </a:pPr>
            <a:r>
              <a:t>This project addresses those concerns by combining Terraform, Ansible, Jenkins, and Kafka KRaft into a structured delivery model that replaces fragmented deployment practices with a standardized and extensible platform approach.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502920" y="228600"/>
            <a:ext cx="11155680" cy="548640"/>
          </a:xfrm>
          <a:prstGeom prst="rect">
            <a:avLst/>
          </a:prstGeom>
          <a:noFill/>
        </p:spPr>
        <p:txBody>
          <a:bodyPr wrap="none">
            <a:spAutoFit/>
          </a:bodyPr>
          <a:lstStyle/>
          <a:p>
            <a:pPr algn="l"/>
            <a:r>
              <a:rPr sz="2400" b="1">
                <a:solidFill>
                  <a:srgbClr val="FF9900"/>
                </a:solidFill>
                <a:latin typeface="Calibri"/>
              </a:rPr>
              <a:t>Proposed Solution &amp; Architecture</a:t>
            </a:r>
          </a:p>
        </p:txBody>
      </p:sp>
      <p:sp>
        <p:nvSpPr>
          <p:cNvPr id="3" name="TextBox 2"/>
          <p:cNvSpPr txBox="1"/>
          <p:nvPr/>
        </p:nvSpPr>
        <p:spPr>
          <a:xfrm>
            <a:off x="685800" y="1051560"/>
            <a:ext cx="10744200" cy="539496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The proposed solution is a layered Kafka platform on AWS in which Terraform provisions the foundational infrastructure, Ansible configures operating systems and Kafka services, and Jenkins orchestrates the full deployment lifecycle from code to running cluster.</a:t>
            </a:r>
          </a:p>
          <a:p>
            <a:pPr algn="l">
              <a:lnSpc>
                <a:spcPct val="115000"/>
              </a:lnSpc>
              <a:spcAft>
                <a:spcPts val="1000"/>
              </a:spcAft>
              <a:defRPr sz="1600">
                <a:solidFill>
                  <a:srgbClr val="E6EBF0"/>
                </a:solidFill>
                <a:latin typeface="Calibri"/>
              </a:defRPr>
            </a:pPr>
            <a:r>
              <a:t>At the network layer, a single VPC with one public subnet and three private subnets creates a controlled segmentation model where the bastion host and NAT gateway support administrative and outbound functions while Kafka brokers remain isolated.</a:t>
            </a:r>
          </a:p>
          <a:p>
            <a:pPr algn="l">
              <a:lnSpc>
                <a:spcPct val="115000"/>
              </a:lnSpc>
              <a:spcAft>
                <a:spcPts val="1000"/>
              </a:spcAft>
              <a:defRPr sz="1600">
                <a:solidFill>
                  <a:srgbClr val="E6EBF0"/>
                </a:solidFill>
                <a:latin typeface="Calibri"/>
              </a:defRPr>
            </a:pPr>
            <a:r>
              <a:t>At the security layer, dedicated security groups enforce SSH access to brokers only through the bastion path and restrict Kafka traffic to internal VPC communication, reducing unnecessary exposure and aligning with least-privilege principles.</a:t>
            </a:r>
          </a:p>
          <a:p>
            <a:pPr algn="l">
              <a:lnSpc>
                <a:spcPct val="115000"/>
              </a:lnSpc>
              <a:spcAft>
                <a:spcPts val="1000"/>
              </a:spcAft>
              <a:defRPr sz="1600">
                <a:solidFill>
                  <a:srgbClr val="E6EBF0"/>
                </a:solidFill>
                <a:latin typeface="Calibri"/>
              </a:defRPr>
            </a:pPr>
            <a:r>
              <a:t>At the platform layer, three broker nodes run Kafka in KRaft mode, eliminating ZooKeeper dependency and simplifying architecture while enabling controller and broker roles to be managed within a modern Kafka deployment model.</a:t>
            </a:r>
          </a:p>
          <a:p>
            <a:pPr algn="l">
              <a:lnSpc>
                <a:spcPct val="115000"/>
              </a:lnSpc>
              <a:spcAft>
                <a:spcPts val="1000"/>
              </a:spcAft>
              <a:defRPr sz="1600">
                <a:solidFill>
                  <a:srgbClr val="E6EBF0"/>
                </a:solidFill>
                <a:latin typeface="Calibri"/>
              </a:defRPr>
            </a:pPr>
            <a:r>
              <a:t>This design ensures that provisioning, configuration, validation, and future enhancements can be handled through code-driven workflows instead of manual console operations, creating a stable baseline for enterprise streaming infrastructure.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502920" y="228600"/>
            <a:ext cx="11155680" cy="548640"/>
          </a:xfrm>
          <a:prstGeom prst="rect">
            <a:avLst/>
          </a:prstGeom>
          <a:noFill/>
        </p:spPr>
        <p:txBody>
          <a:bodyPr wrap="none">
            <a:spAutoFit/>
          </a:bodyPr>
          <a:lstStyle/>
          <a:p>
            <a:pPr algn="l"/>
            <a:r>
              <a:rPr sz="2400" b="1">
                <a:solidFill>
                  <a:srgbClr val="FF9900"/>
                </a:solidFill>
                <a:latin typeface="Calibri"/>
              </a:rPr>
              <a:t>Technology Stack Overview</a:t>
            </a:r>
          </a:p>
        </p:txBody>
      </p:sp>
      <p:sp>
        <p:nvSpPr>
          <p:cNvPr id="3" name="TextBox 2"/>
          <p:cNvSpPr txBox="1"/>
          <p:nvPr/>
        </p:nvSpPr>
        <p:spPr>
          <a:xfrm>
            <a:off x="685800" y="1051560"/>
            <a:ext cx="10744200" cy="539496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AWS provides the cloud foundation, including VPC, subnets, route tables, internet gateway, NAT gateway, security groups, Elastic IP, and EC2 instances required to host a segmented and reachable Kafka environment.</a:t>
            </a:r>
          </a:p>
          <a:p>
            <a:pPr algn="l">
              <a:lnSpc>
                <a:spcPct val="115000"/>
              </a:lnSpc>
              <a:spcAft>
                <a:spcPts val="1000"/>
              </a:spcAft>
              <a:defRPr sz="1600">
                <a:solidFill>
                  <a:srgbClr val="E6EBF0"/>
                </a:solidFill>
                <a:latin typeface="Calibri"/>
              </a:defRPr>
            </a:pPr>
            <a:r>
              <a:t>Terraform is used as the infrastructure as code engine, with a modular design that separates VPC creation, security policy definition, and compute provisioning into reusable logical units that simplify maintenance and future expansion.</a:t>
            </a:r>
          </a:p>
          <a:p>
            <a:pPr algn="l">
              <a:lnSpc>
                <a:spcPct val="115000"/>
              </a:lnSpc>
              <a:spcAft>
                <a:spcPts val="1000"/>
              </a:spcAft>
              <a:defRPr sz="1600">
                <a:solidFill>
                  <a:srgbClr val="E6EBF0"/>
                </a:solidFill>
                <a:latin typeface="Calibri"/>
              </a:defRPr>
            </a:pPr>
            <a:r>
              <a:t>Ansible acts as the configuration management tool, responsible for connecting through the bastion model, preparing Linux hosts, installing Kafka dependencies, configuring broker properties, and performing idempotent service setup steps.</a:t>
            </a:r>
          </a:p>
          <a:p>
            <a:pPr algn="l">
              <a:lnSpc>
                <a:spcPct val="115000"/>
              </a:lnSpc>
              <a:spcAft>
                <a:spcPts val="1000"/>
              </a:spcAft>
              <a:defRPr sz="1600">
                <a:solidFill>
                  <a:srgbClr val="E6EBF0"/>
                </a:solidFill>
                <a:latin typeface="Calibri"/>
              </a:defRPr>
            </a:pPr>
            <a:r>
              <a:t>Jenkins integrates the delivery workflow by enabling automated infrastructure planning, environment deployment, post-provision configuration execution, and repeatable validation stages that support team-based operations and change control.</a:t>
            </a:r>
          </a:p>
          <a:p>
            <a:pPr algn="l">
              <a:lnSpc>
                <a:spcPct val="115000"/>
              </a:lnSpc>
              <a:spcAft>
                <a:spcPts val="1000"/>
              </a:spcAft>
              <a:defRPr sz="1600">
                <a:solidFill>
                  <a:srgbClr val="E6EBF0"/>
                </a:solidFill>
                <a:latin typeface="Calibri"/>
              </a:defRPr>
            </a:pPr>
            <a:r>
              <a:t>Kafka in KRaft mode serves as the streaming platform core, allowing the cluster to avoid ZooKeeper dependency while still supporting a distributed three-node topology suitable for high availability learning and platform engineering use cases.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502920" y="228600"/>
            <a:ext cx="11155680" cy="548640"/>
          </a:xfrm>
          <a:prstGeom prst="rect">
            <a:avLst/>
          </a:prstGeom>
          <a:noFill/>
        </p:spPr>
        <p:txBody>
          <a:bodyPr wrap="none">
            <a:spAutoFit/>
          </a:bodyPr>
          <a:lstStyle/>
          <a:p>
            <a:pPr algn="l"/>
            <a:r>
              <a:rPr sz="2400" b="1">
                <a:solidFill>
                  <a:srgbClr val="FF9900"/>
                </a:solidFill>
                <a:latin typeface="Calibri"/>
              </a:rPr>
              <a:t>Terraform: Infrastructure as Code (IaC)</a:t>
            </a:r>
          </a:p>
        </p:txBody>
      </p:sp>
      <p:sp>
        <p:nvSpPr>
          <p:cNvPr id="3" name="TextBox 2"/>
          <p:cNvSpPr txBox="1"/>
          <p:nvPr/>
        </p:nvSpPr>
        <p:spPr>
          <a:xfrm>
            <a:off x="685800" y="1051560"/>
            <a:ext cx="10744200" cy="539496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Terraform defines the entire AWS infrastructure declaratively, which means the desired platform state is expressed in code and can be reviewed, version controlled, and recreated consistently without relying on console-based provisioning steps.</a:t>
            </a:r>
          </a:p>
          <a:p>
            <a:pPr algn="l">
              <a:lnSpc>
                <a:spcPct val="115000"/>
              </a:lnSpc>
              <a:spcAft>
                <a:spcPts val="1000"/>
              </a:spcAft>
              <a:defRPr sz="1600">
                <a:solidFill>
                  <a:srgbClr val="E6EBF0"/>
                </a:solidFill>
                <a:latin typeface="Calibri"/>
              </a:defRPr>
            </a:pPr>
            <a:r>
              <a:t>The root module wires together dedicated child modules for networking, security groups, and EC2 resources, allowing each layer of the infrastructure to remain logically separated while still participating in a single integrated deployment plan.</a:t>
            </a:r>
          </a:p>
          <a:p>
            <a:pPr algn="l">
              <a:lnSpc>
                <a:spcPct val="115000"/>
              </a:lnSpc>
              <a:spcAft>
                <a:spcPts val="1000"/>
              </a:spcAft>
              <a:defRPr sz="1600">
                <a:solidFill>
                  <a:srgbClr val="E6EBF0"/>
                </a:solidFill>
                <a:latin typeface="Calibri"/>
              </a:defRPr>
            </a:pPr>
            <a:r>
              <a:t>Input variables such as region, environment, subnet CIDRs, availability zones, instance types, and SSH key name make the code more reusable and easier to adapt as the platform evolves from development use cases to larger operational scenarios.</a:t>
            </a:r>
          </a:p>
          <a:p>
            <a:pPr algn="l">
              <a:lnSpc>
                <a:spcPct val="115000"/>
              </a:lnSpc>
              <a:spcAft>
                <a:spcPts val="1000"/>
              </a:spcAft>
              <a:defRPr sz="1600">
                <a:solidFill>
                  <a:srgbClr val="E6EBF0"/>
                </a:solidFill>
                <a:latin typeface="Calibri"/>
              </a:defRPr>
            </a:pPr>
            <a:r>
              <a:t>Outputs expose essential values including VPC ID, bastion public IP, and Kafka broker private IP addresses, making downstream automation and operational validation easier once the infrastructure apply step has completed successfully.</a:t>
            </a:r>
          </a:p>
          <a:p>
            <a:pPr algn="l">
              <a:lnSpc>
                <a:spcPct val="115000"/>
              </a:lnSpc>
              <a:spcAft>
                <a:spcPts val="1000"/>
              </a:spcAft>
              <a:defRPr sz="1600">
                <a:solidFill>
                  <a:srgbClr val="E6EBF0"/>
                </a:solidFill>
                <a:latin typeface="Calibri"/>
              </a:defRPr>
            </a:pPr>
            <a:r>
              <a:t>By codifying exact resource names, mandatory tags, and dependency relationships, the Terraform implementation supports governance, traceability, and reproducibility in a way that manual provisioning cannot reliably achieve at scale.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502920" y="228600"/>
            <a:ext cx="11155680" cy="548640"/>
          </a:xfrm>
          <a:prstGeom prst="rect">
            <a:avLst/>
          </a:prstGeom>
          <a:noFill/>
        </p:spPr>
        <p:txBody>
          <a:bodyPr wrap="none">
            <a:spAutoFit/>
          </a:bodyPr>
          <a:lstStyle/>
          <a:p>
            <a:pPr algn="l"/>
            <a:r>
              <a:rPr sz="2400" b="1">
                <a:solidFill>
                  <a:srgbClr val="FF9900"/>
                </a:solidFill>
                <a:latin typeface="Calibri"/>
              </a:rPr>
              <a:t>AWS Network Architecture (VPC, Subnets)</a:t>
            </a:r>
          </a:p>
        </p:txBody>
      </p:sp>
      <p:sp>
        <p:nvSpPr>
          <p:cNvPr id="3" name="TextBox 2"/>
          <p:cNvSpPr txBox="1"/>
          <p:nvPr/>
        </p:nvSpPr>
        <p:spPr>
          <a:xfrm>
            <a:off x="640080" y="1051560"/>
            <a:ext cx="5486400" cy="521208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The platform uses a dedicated VPC with CIDR block 10.0.0.0/16 in us-east-1, creating a clean and isolated private network boundary for all Kafka infrastructure components and simplifying route, access, and subnet planning.</a:t>
            </a:r>
          </a:p>
          <a:p>
            <a:pPr algn="l">
              <a:lnSpc>
                <a:spcPct val="115000"/>
              </a:lnSpc>
              <a:spcAft>
                <a:spcPts val="1000"/>
              </a:spcAft>
              <a:defRPr sz="1600">
                <a:solidFill>
                  <a:srgbClr val="E6EBF0"/>
                </a:solidFill>
                <a:latin typeface="Calibri"/>
              </a:defRPr>
            </a:pPr>
            <a:r>
              <a:t>A single public subnet is reserved for edge-facing administrative and egress components, specifically the bastion host and NAT gateway, so that controlled entry and outbound connectivity remain centralized rather than scattered across the environment.</a:t>
            </a:r>
          </a:p>
          <a:p>
            <a:pPr algn="l">
              <a:lnSpc>
                <a:spcPct val="115000"/>
              </a:lnSpc>
              <a:spcAft>
                <a:spcPts val="1000"/>
              </a:spcAft>
              <a:defRPr sz="1600">
                <a:solidFill>
                  <a:srgbClr val="E6EBF0"/>
                </a:solidFill>
                <a:latin typeface="Calibri"/>
              </a:defRPr>
            </a:pPr>
            <a:r>
              <a:t>Three private subnets are provisioned for Kafka brokers with CIDR ranges 10.0.2.0/24, 10.0.3.0/24, and 10.0.4.0/24, distributed across three availability zones to improve failure-domain separation and align with high availability goals.</a:t>
            </a:r>
          </a:p>
          <a:p>
            <a:pPr algn="l">
              <a:lnSpc>
                <a:spcPct val="115000"/>
              </a:lnSpc>
              <a:spcAft>
                <a:spcPts val="1000"/>
              </a:spcAft>
              <a:defRPr sz="1600">
                <a:solidFill>
                  <a:srgbClr val="E6EBF0"/>
                </a:solidFill>
                <a:latin typeface="Calibri"/>
              </a:defRPr>
            </a:pPr>
            <a:r>
              <a:t>The public route table sends internet-bound traffic to the internet gateway, while the private route table directs outbound traffic from the broker subnets to the NAT gateway, preserving broker isolation while still allowing necessary package access.</a:t>
            </a:r>
          </a:p>
          <a:p>
            <a:pPr algn="l">
              <a:lnSpc>
                <a:spcPct val="115000"/>
              </a:lnSpc>
              <a:spcAft>
                <a:spcPts val="1000"/>
              </a:spcAft>
              <a:defRPr sz="1600">
                <a:solidFill>
                  <a:srgbClr val="E6EBF0"/>
                </a:solidFill>
                <a:latin typeface="Calibri"/>
              </a:defRPr>
            </a:pPr>
            <a:r>
              <a:t>This network model creates a strong foundation for secure Kafka operations because private brokers remain unreachable from the public internet, yet administrators can still manage them through the approved bastion-based access pattern.</a:t>
            </a:r>
          </a:p>
        </p:txBody>
      </p:sp>
      <p:sp>
        <p:nvSpPr>
          <p:cNvPr id="4" name="Rectangle 3"/>
          <p:cNvSpPr/>
          <p:nvPr/>
        </p:nvSpPr>
        <p:spPr>
          <a:xfrm>
            <a:off x="6492240" y="1234440"/>
            <a:ext cx="4983480" cy="4526280"/>
          </a:xfrm>
          <a:prstGeom prst="rect">
            <a:avLst/>
          </a:prstGeom>
          <a:solidFill>
            <a:srgbClr val="464646"/>
          </a:solidFill>
          <a:ln>
            <a:solidFill>
              <a:srgbClr val="B9C3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E6EBF0"/>
                </a:solidFill>
                <a:latin typeface="Calibri"/>
              </a:rPr>
              <a:t>[ INSERT DIAGRAM / SCREENSHOT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502920" y="228600"/>
            <a:ext cx="11155680" cy="548640"/>
          </a:xfrm>
          <a:prstGeom prst="rect">
            <a:avLst/>
          </a:prstGeom>
          <a:noFill/>
        </p:spPr>
        <p:txBody>
          <a:bodyPr wrap="none">
            <a:spAutoFit/>
          </a:bodyPr>
          <a:lstStyle/>
          <a:p>
            <a:pPr algn="l"/>
            <a:r>
              <a:rPr sz="2400" b="1">
                <a:solidFill>
                  <a:srgbClr val="FF9900"/>
                </a:solidFill>
                <a:latin typeface="Calibri"/>
              </a:rPr>
              <a:t>AWS Compute Architecture (Bastion &amp; Brokers)</a:t>
            </a:r>
          </a:p>
        </p:txBody>
      </p:sp>
      <p:sp>
        <p:nvSpPr>
          <p:cNvPr id="3" name="TextBox 2"/>
          <p:cNvSpPr txBox="1"/>
          <p:nvPr/>
        </p:nvSpPr>
        <p:spPr>
          <a:xfrm>
            <a:off x="640080" y="1051560"/>
            <a:ext cx="5486400" cy="521208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The compute layer includes one public bastion instance and three private Kafka broker instances, each provisioned from a recent Ubuntu 22.04 AMI to maintain a consistent operating system baseline across the environment.</a:t>
            </a:r>
          </a:p>
          <a:p>
            <a:pPr algn="l">
              <a:lnSpc>
                <a:spcPct val="115000"/>
              </a:lnSpc>
              <a:spcAft>
                <a:spcPts val="1000"/>
              </a:spcAft>
              <a:defRPr sz="1600">
                <a:solidFill>
                  <a:srgbClr val="E6EBF0"/>
                </a:solidFill>
                <a:latin typeface="Calibri"/>
              </a:defRPr>
            </a:pPr>
            <a:r>
              <a:t>The bastion host uses a smaller instance profile because its role is administrative access mediation, whereas the Kafka brokers use a larger instance type appropriate for running broker processes, log storage workloads, and inter-node communication.</a:t>
            </a:r>
          </a:p>
          <a:p>
            <a:pPr algn="l">
              <a:lnSpc>
                <a:spcPct val="115000"/>
              </a:lnSpc>
              <a:spcAft>
                <a:spcPts val="1000"/>
              </a:spcAft>
              <a:defRPr sz="1600">
                <a:solidFill>
                  <a:srgbClr val="E6EBF0"/>
                </a:solidFill>
                <a:latin typeface="Calibri"/>
              </a:defRPr>
            </a:pPr>
            <a:r>
              <a:t>Each broker is deployed into a different private subnet, which helps distribute risk across availability zones and supports a resilient topology where a single subnet or zone issue does not immediately collapse the entire Kafka deployment pattern.</a:t>
            </a:r>
          </a:p>
          <a:p>
            <a:pPr algn="l">
              <a:lnSpc>
                <a:spcPct val="115000"/>
              </a:lnSpc>
              <a:spcAft>
                <a:spcPts val="1000"/>
              </a:spcAft>
              <a:defRPr sz="1600">
                <a:solidFill>
                  <a:srgbClr val="E6EBF0"/>
                </a:solidFill>
                <a:latin typeface="Calibri"/>
              </a:defRPr>
            </a:pPr>
            <a:r>
              <a:t>The SSH key name is passed as a Terraform variable so that access credentials are not hardcoded into the module logic, supporting cleaner separation between reusable code and environment-specific authentication details.</a:t>
            </a:r>
          </a:p>
          <a:p>
            <a:pPr algn="l">
              <a:lnSpc>
                <a:spcPct val="115000"/>
              </a:lnSpc>
              <a:spcAft>
                <a:spcPts val="1000"/>
              </a:spcAft>
              <a:defRPr sz="1600">
                <a:solidFill>
                  <a:srgbClr val="E6EBF0"/>
                </a:solidFill>
                <a:latin typeface="Calibri"/>
              </a:defRPr>
            </a:pPr>
            <a:r>
              <a:t>By isolating administration to the bastion and keeping brokers private, the compute architecture balances manageability with security while still leaving room for future scaling, monitoring agents, and platform hardening extensions.</a:t>
            </a:r>
          </a:p>
        </p:txBody>
      </p:sp>
      <p:sp>
        <p:nvSpPr>
          <p:cNvPr id="4" name="Rectangle 3"/>
          <p:cNvSpPr/>
          <p:nvPr/>
        </p:nvSpPr>
        <p:spPr>
          <a:xfrm>
            <a:off x="6492240" y="1234440"/>
            <a:ext cx="4983480" cy="4526280"/>
          </a:xfrm>
          <a:prstGeom prst="rect">
            <a:avLst/>
          </a:prstGeom>
          <a:solidFill>
            <a:srgbClr val="464646"/>
          </a:solidFill>
          <a:ln>
            <a:solidFill>
              <a:srgbClr val="B9C3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E6EBF0"/>
                </a:solidFill>
                <a:latin typeface="Calibri"/>
              </a:rPr>
              <a:t>[ INSERT DIAGRAM / SCREENSHOT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502920" y="228600"/>
            <a:ext cx="11155680" cy="548640"/>
          </a:xfrm>
          <a:prstGeom prst="rect">
            <a:avLst/>
          </a:prstGeom>
          <a:noFill/>
        </p:spPr>
        <p:txBody>
          <a:bodyPr wrap="none">
            <a:spAutoFit/>
          </a:bodyPr>
          <a:lstStyle/>
          <a:p>
            <a:pPr algn="l"/>
            <a:r>
              <a:rPr sz="2400" b="1">
                <a:solidFill>
                  <a:srgbClr val="FF9900"/>
                </a:solidFill>
                <a:latin typeface="Calibri"/>
              </a:rPr>
              <a:t>Terraform Modules Breakdown</a:t>
            </a:r>
          </a:p>
        </p:txBody>
      </p:sp>
      <p:sp>
        <p:nvSpPr>
          <p:cNvPr id="3" name="TextBox 2"/>
          <p:cNvSpPr txBox="1"/>
          <p:nvPr/>
        </p:nvSpPr>
        <p:spPr>
          <a:xfrm>
            <a:off x="640080" y="1051560"/>
            <a:ext cx="5486400" cy="521208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The VPC module is responsible for provisioning the foundational network components, including the VPC, internet gateway, public and private subnets, Elastic IP, NAT gateway, route tables, and subnet associations that establish connectivity behavior.</a:t>
            </a:r>
          </a:p>
          <a:p>
            <a:pPr algn="l">
              <a:lnSpc>
                <a:spcPct val="115000"/>
              </a:lnSpc>
              <a:spcAft>
                <a:spcPts val="1000"/>
              </a:spcAft>
              <a:defRPr sz="1600">
                <a:solidFill>
                  <a:srgbClr val="E6EBF0"/>
                </a:solidFill>
                <a:latin typeface="Calibri"/>
              </a:defRPr>
            </a:pPr>
            <a:r>
              <a:t>The security-group module encapsulates access policies by defining a bastion security group with SSH ingress and a Kafka broker security group that allows SSH from bastion plus Kafka traffic only from within the VPC address space.</a:t>
            </a:r>
          </a:p>
          <a:p>
            <a:pPr algn="l">
              <a:lnSpc>
                <a:spcPct val="115000"/>
              </a:lnSpc>
              <a:spcAft>
                <a:spcPts val="1000"/>
              </a:spcAft>
              <a:defRPr sz="1600">
                <a:solidFill>
                  <a:srgbClr val="E6EBF0"/>
                </a:solidFill>
                <a:latin typeface="Calibri"/>
              </a:defRPr>
            </a:pPr>
            <a:r>
              <a:t>The EC2 module focuses on compute provisioning, selecting the Ubuntu AMI dynamically, creating the bastion instance in the public subnet, and deploying three broker instances across the private subnet list passed from the networking module.</a:t>
            </a:r>
          </a:p>
          <a:p>
            <a:pPr algn="l">
              <a:lnSpc>
                <a:spcPct val="115000"/>
              </a:lnSpc>
              <a:spcAft>
                <a:spcPts val="1000"/>
              </a:spcAft>
              <a:defRPr sz="1600">
                <a:solidFill>
                  <a:srgbClr val="E6EBF0"/>
                </a:solidFill>
                <a:latin typeface="Calibri"/>
              </a:defRPr>
            </a:pPr>
            <a:r>
              <a:t>At the root level, module composition ensures that outputs from one layer become inputs to another, which creates a clear dependency chain and helps the overall design remain readable, maintainable, and easier to troubleshoot.</a:t>
            </a:r>
          </a:p>
          <a:p>
            <a:pPr algn="l">
              <a:lnSpc>
                <a:spcPct val="115000"/>
              </a:lnSpc>
              <a:spcAft>
                <a:spcPts val="1000"/>
              </a:spcAft>
              <a:defRPr sz="1600">
                <a:solidFill>
                  <a:srgbClr val="E6EBF0"/>
                </a:solidFill>
                <a:latin typeface="Calibri"/>
              </a:defRPr>
            </a:pPr>
            <a:r>
              <a:t>This modular pattern also prepares the codebase for future enterprise growth, such as additional environments, autoscaling patterns, monitoring modules, storage tuning, or reusable blueprints for related streaming platform components.</a:t>
            </a:r>
          </a:p>
        </p:txBody>
      </p:sp>
      <p:sp>
        <p:nvSpPr>
          <p:cNvPr id="4" name="Rectangle 3"/>
          <p:cNvSpPr/>
          <p:nvPr/>
        </p:nvSpPr>
        <p:spPr>
          <a:xfrm>
            <a:off x="6492240" y="1234440"/>
            <a:ext cx="4983480" cy="4526280"/>
          </a:xfrm>
          <a:prstGeom prst="rect">
            <a:avLst/>
          </a:prstGeom>
          <a:solidFill>
            <a:srgbClr val="464646"/>
          </a:solidFill>
          <a:ln>
            <a:solidFill>
              <a:srgbClr val="B9C3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E6EBF0"/>
                </a:solidFill>
                <a:latin typeface="Calibri"/>
              </a:rPr>
              <a:t>[ INSERT DIAGRAM / SCREENSHOT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502920" y="228600"/>
            <a:ext cx="11155680" cy="548640"/>
          </a:xfrm>
          <a:prstGeom prst="rect">
            <a:avLst/>
          </a:prstGeom>
          <a:noFill/>
        </p:spPr>
        <p:txBody>
          <a:bodyPr wrap="none">
            <a:spAutoFit/>
          </a:bodyPr>
          <a:lstStyle/>
          <a:p>
            <a:pPr algn="l"/>
            <a:r>
              <a:rPr sz="2400" b="1">
                <a:solidFill>
                  <a:srgbClr val="FF9900"/>
                </a:solidFill>
                <a:latin typeface="Calibri"/>
              </a:rPr>
              <a:t>State Management &amp; Security (S3 + DynamoDB)</a:t>
            </a:r>
          </a:p>
        </p:txBody>
      </p:sp>
      <p:sp>
        <p:nvSpPr>
          <p:cNvPr id="3" name="TextBox 2"/>
          <p:cNvSpPr txBox="1"/>
          <p:nvPr/>
        </p:nvSpPr>
        <p:spPr>
          <a:xfrm>
            <a:off x="640080" y="1051560"/>
            <a:ext cx="5486400" cy="521208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Terraform remote state is configured in Amazon S3, which centralizes the infrastructure state file so that deployments do not depend on local workstation copies and team collaboration can happen against a shared source of truth.</a:t>
            </a:r>
          </a:p>
          <a:p>
            <a:pPr algn="l">
              <a:lnSpc>
                <a:spcPct val="115000"/>
              </a:lnSpc>
              <a:spcAft>
                <a:spcPts val="1000"/>
              </a:spcAft>
              <a:defRPr sz="1600">
                <a:solidFill>
                  <a:srgbClr val="E6EBF0"/>
                </a:solidFill>
                <a:latin typeface="Calibri"/>
              </a:defRPr>
            </a:pPr>
            <a:r>
              <a:t>The backend stores state in a dedicated bucket with server-side encryption enabled, which improves durability and helps protect sensitive infrastructure metadata such as resource identifiers, network configuration references, and computed attributes.</a:t>
            </a:r>
          </a:p>
          <a:p>
            <a:pPr algn="l">
              <a:lnSpc>
                <a:spcPct val="115000"/>
              </a:lnSpc>
              <a:spcAft>
                <a:spcPts val="1000"/>
              </a:spcAft>
              <a:defRPr sz="1600">
                <a:solidFill>
                  <a:srgbClr val="E6EBF0"/>
                </a:solidFill>
                <a:latin typeface="Calibri"/>
              </a:defRPr>
            </a:pPr>
            <a:r>
              <a:t>A DynamoDB table is used for state locking, preventing concurrent Terraform operations from corrupting state when multiple users or automated pipelines attempt to run plan or apply actions at the same time.</a:t>
            </a:r>
          </a:p>
          <a:p>
            <a:pPr algn="l">
              <a:lnSpc>
                <a:spcPct val="115000"/>
              </a:lnSpc>
              <a:spcAft>
                <a:spcPts val="1000"/>
              </a:spcAft>
              <a:defRPr sz="1600">
                <a:solidFill>
                  <a:srgbClr val="E6EBF0"/>
                </a:solidFill>
                <a:latin typeface="Calibri"/>
              </a:defRPr>
            </a:pPr>
            <a:r>
              <a:t>This backend design is a critical enterprise control because state consistency directly affects infrastructure integrity; without locking and centralized storage, overlapping updates can create drift, accidental deletion, or incomplete resource creation.</a:t>
            </a:r>
          </a:p>
          <a:p>
            <a:pPr algn="l">
              <a:lnSpc>
                <a:spcPct val="115000"/>
              </a:lnSpc>
              <a:spcAft>
                <a:spcPts val="1000"/>
              </a:spcAft>
              <a:defRPr sz="1600">
                <a:solidFill>
                  <a:srgbClr val="E6EBF0"/>
                </a:solidFill>
                <a:latin typeface="Calibri"/>
              </a:defRPr>
            </a:pPr>
            <a:r>
              <a:t>Beyond remote state, the project also reinforces security through standardized tagging, exact naming, subnet isolation, and controlled security group rules that together make the infrastructure easier to audit and govern over time.</a:t>
            </a:r>
          </a:p>
        </p:txBody>
      </p:sp>
      <p:sp>
        <p:nvSpPr>
          <p:cNvPr id="4" name="Rectangle 3"/>
          <p:cNvSpPr/>
          <p:nvPr/>
        </p:nvSpPr>
        <p:spPr>
          <a:xfrm>
            <a:off x="6492240" y="1234440"/>
            <a:ext cx="4983480" cy="4526280"/>
          </a:xfrm>
          <a:prstGeom prst="rect">
            <a:avLst/>
          </a:prstGeom>
          <a:solidFill>
            <a:srgbClr val="464646"/>
          </a:solidFill>
          <a:ln>
            <a:solidFill>
              <a:srgbClr val="B9C3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E6EBF0"/>
                </a:solidFill>
                <a:latin typeface="Calibri"/>
              </a:rPr>
              <a:t>[ INSERT DIAGRAM / SCREENSHOT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502920" y="228600"/>
            <a:ext cx="11155680" cy="548640"/>
          </a:xfrm>
          <a:prstGeom prst="rect">
            <a:avLst/>
          </a:prstGeom>
          <a:noFill/>
        </p:spPr>
        <p:txBody>
          <a:bodyPr wrap="none">
            <a:spAutoFit/>
          </a:bodyPr>
          <a:lstStyle/>
          <a:p>
            <a:pPr algn="l"/>
            <a:r>
              <a:rPr sz="2400" b="1">
                <a:solidFill>
                  <a:srgbClr val="FF9900"/>
                </a:solidFill>
                <a:latin typeface="Calibri"/>
              </a:rPr>
              <a:t>Ansible: Configuration Management</a:t>
            </a:r>
          </a:p>
        </p:txBody>
      </p:sp>
      <p:sp>
        <p:nvSpPr>
          <p:cNvPr id="3" name="TextBox 2"/>
          <p:cNvSpPr txBox="1"/>
          <p:nvPr/>
        </p:nvSpPr>
        <p:spPr>
          <a:xfrm>
            <a:off x="640080" y="1051560"/>
            <a:ext cx="5486400" cy="521208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After Terraform provisions the underlying infrastructure, Ansible can connect through the bastion access path to perform repeatable host-level configuration across all Kafka broker nodes without introducing manual SSH-driven inconsistencies.</a:t>
            </a:r>
          </a:p>
          <a:p>
            <a:pPr algn="l">
              <a:lnSpc>
                <a:spcPct val="115000"/>
              </a:lnSpc>
              <a:spcAft>
                <a:spcPts val="1000"/>
              </a:spcAft>
              <a:defRPr sz="1600">
                <a:solidFill>
                  <a:srgbClr val="E6EBF0"/>
                </a:solidFill>
                <a:latin typeface="Calibri"/>
              </a:defRPr>
            </a:pPr>
            <a:r>
              <a:t>Typical responsibilities include operating system preparation, package installation, Java runtime setup, Kafka binary deployment, creation of required directories, service user management, and templating of Kafka broker configuration files.</a:t>
            </a:r>
          </a:p>
          <a:p>
            <a:pPr algn="l">
              <a:lnSpc>
                <a:spcPct val="115000"/>
              </a:lnSpc>
              <a:spcAft>
                <a:spcPts val="1000"/>
              </a:spcAft>
              <a:defRPr sz="1600">
                <a:solidFill>
                  <a:srgbClr val="E6EBF0"/>
                </a:solidFill>
                <a:latin typeface="Calibri"/>
              </a:defRPr>
            </a:pPr>
            <a:r>
              <a:t>Because Ansible is idempotent, the same playbooks can be executed repeatedly to converge systems toward the intended state, which is essential when brokers are rebuilt, updated, patched, or validated after infrastructure changes.</a:t>
            </a:r>
          </a:p>
          <a:p>
            <a:pPr algn="l">
              <a:lnSpc>
                <a:spcPct val="115000"/>
              </a:lnSpc>
              <a:spcAft>
                <a:spcPts val="1000"/>
              </a:spcAft>
              <a:defRPr sz="1600">
                <a:solidFill>
                  <a:srgbClr val="E6EBF0"/>
                </a:solidFill>
                <a:latin typeface="Calibri"/>
              </a:defRPr>
            </a:pPr>
            <a:r>
              <a:t>Inventory design can reflect the Terraform outputs, allowing bastion and broker private IP information to be fed into configuration workflows so that infrastructure creation and software configuration remain tightly aligned.</a:t>
            </a:r>
          </a:p>
          <a:p>
            <a:pPr algn="l">
              <a:lnSpc>
                <a:spcPct val="115000"/>
              </a:lnSpc>
              <a:spcAft>
                <a:spcPts val="1000"/>
              </a:spcAft>
              <a:defRPr sz="1600">
                <a:solidFill>
                  <a:srgbClr val="E6EBF0"/>
                </a:solidFill>
                <a:latin typeface="Calibri"/>
              </a:defRPr>
            </a:pPr>
            <a:r>
              <a:t>In an enterprise pipeline, this separation of provisioning and configuration improves clarity because Terraform owns cloud resources while Ansible owns operating system and middleware setup, reducing tool overlap and operational ambiguity.</a:t>
            </a:r>
          </a:p>
        </p:txBody>
      </p:sp>
      <p:sp>
        <p:nvSpPr>
          <p:cNvPr id="4" name="Rectangle 3"/>
          <p:cNvSpPr/>
          <p:nvPr/>
        </p:nvSpPr>
        <p:spPr>
          <a:xfrm>
            <a:off x="6492240" y="1234440"/>
            <a:ext cx="4983480" cy="4526280"/>
          </a:xfrm>
          <a:prstGeom prst="rect">
            <a:avLst/>
          </a:prstGeom>
          <a:solidFill>
            <a:srgbClr val="464646"/>
          </a:solidFill>
          <a:ln>
            <a:solidFill>
              <a:srgbClr val="B9C3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E6EBF0"/>
                </a:solidFill>
                <a:latin typeface="Calibri"/>
              </a:rPr>
              <a:t>[ INSERT DIAGRAM / SCREENSHOT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502920" y="228600"/>
            <a:ext cx="11155680" cy="548640"/>
          </a:xfrm>
          <a:prstGeom prst="rect">
            <a:avLst/>
          </a:prstGeom>
          <a:noFill/>
        </p:spPr>
        <p:txBody>
          <a:bodyPr wrap="none">
            <a:spAutoFit/>
          </a:bodyPr>
          <a:lstStyle/>
          <a:p>
            <a:pPr algn="l"/>
            <a:r>
              <a:rPr sz="2400" b="1">
                <a:solidFill>
                  <a:srgbClr val="FF9900"/>
                </a:solidFill>
                <a:latin typeface="Calibri"/>
              </a:rPr>
              <a:t>Kafka KRaft Architecture</a:t>
            </a:r>
          </a:p>
        </p:txBody>
      </p:sp>
      <p:sp>
        <p:nvSpPr>
          <p:cNvPr id="3" name="TextBox 2"/>
          <p:cNvSpPr txBox="1"/>
          <p:nvPr/>
        </p:nvSpPr>
        <p:spPr>
          <a:xfrm>
            <a:off x="685800" y="1051560"/>
            <a:ext cx="10744200" cy="539496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Kafka KRaft mode replaces the legacy ZooKeeper dependency with an internal consensus model, simplifying the architecture and reducing the number of distributed system components that need to be deployed, secured, and operated.</a:t>
            </a:r>
          </a:p>
          <a:p>
            <a:pPr algn="l">
              <a:lnSpc>
                <a:spcPct val="115000"/>
              </a:lnSpc>
              <a:spcAft>
                <a:spcPts val="1000"/>
              </a:spcAft>
              <a:defRPr sz="1600">
                <a:solidFill>
                  <a:srgbClr val="E6EBF0"/>
                </a:solidFill>
                <a:latin typeface="Calibri"/>
              </a:defRPr>
            </a:pPr>
            <a:r>
              <a:t>In this platform, the three broker nodes are designed to participate in a KRaft-based cluster where metadata management and broker coordination are handled directly by Kafka, which aligns with modern deployment practices and future-facing Kafka operations.</a:t>
            </a:r>
          </a:p>
          <a:p>
            <a:pPr algn="l">
              <a:lnSpc>
                <a:spcPct val="115000"/>
              </a:lnSpc>
              <a:spcAft>
                <a:spcPts val="1000"/>
              </a:spcAft>
              <a:defRPr sz="1600">
                <a:solidFill>
                  <a:srgbClr val="E6EBF0"/>
                </a:solidFill>
                <a:latin typeface="Calibri"/>
              </a:defRPr>
            </a:pPr>
            <a:r>
              <a:t>This approach reduces operational complexity because there is no separate ZooKeeper ensemble to provision, monitor, patch, or troubleshoot, allowing the platform to focus on the Kafka nodes themselves as the core operational boundary.</a:t>
            </a:r>
          </a:p>
          <a:p>
            <a:pPr algn="l">
              <a:lnSpc>
                <a:spcPct val="115000"/>
              </a:lnSpc>
              <a:spcAft>
                <a:spcPts val="1000"/>
              </a:spcAft>
              <a:defRPr sz="1600">
                <a:solidFill>
                  <a:srgbClr val="E6EBF0"/>
                </a:solidFill>
                <a:latin typeface="Calibri"/>
              </a:defRPr>
            </a:pPr>
            <a:r>
              <a:t>KRaft also supports a cleaner automation story for infrastructure and configuration management since Terraform and Ansible can target a simpler node pattern without having to manage additional quorum hosts dedicated solely to ZooKeeper responsibilities.</a:t>
            </a:r>
          </a:p>
          <a:p>
            <a:pPr algn="l">
              <a:lnSpc>
                <a:spcPct val="115000"/>
              </a:lnSpc>
              <a:spcAft>
                <a:spcPts val="1000"/>
              </a:spcAft>
              <a:defRPr sz="1600">
                <a:solidFill>
                  <a:srgbClr val="E6EBF0"/>
                </a:solidFill>
                <a:latin typeface="Calibri"/>
              </a:defRPr>
            </a:pPr>
            <a:r>
              <a:t>For enterprise readiness, KRaft-based deployments still require careful attention to broker identity, listener configuration, storage paths, quorum settings, and validation commands to ensure that controller and broker roles form a healthy cluster.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502920" y="228600"/>
            <a:ext cx="11155680" cy="548640"/>
          </a:xfrm>
          <a:prstGeom prst="rect">
            <a:avLst/>
          </a:prstGeom>
          <a:noFill/>
        </p:spPr>
        <p:txBody>
          <a:bodyPr wrap="none">
            <a:spAutoFit/>
          </a:bodyPr>
          <a:lstStyle/>
          <a:p>
            <a:pPr algn="l"/>
            <a:r>
              <a:rPr sz="2400" b="1">
                <a:solidFill>
                  <a:srgbClr val="FF9900"/>
                </a:solidFill>
                <a:latin typeface="Calibri"/>
              </a:rPr>
              <a:t>Jenkins CI/CD Pipeline Integration</a:t>
            </a:r>
          </a:p>
        </p:txBody>
      </p:sp>
      <p:sp>
        <p:nvSpPr>
          <p:cNvPr id="3" name="TextBox 2"/>
          <p:cNvSpPr txBox="1"/>
          <p:nvPr/>
        </p:nvSpPr>
        <p:spPr>
          <a:xfrm>
            <a:off x="685800" y="1051560"/>
            <a:ext cx="10744200" cy="539496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Jenkins provides the automation backbone for turning infrastructure code and configuration assets into a controlled deployment workflow, enabling teams to execute Terraform and Ansible stages in a standardized and auditable pipeline model.</a:t>
            </a:r>
          </a:p>
          <a:p>
            <a:pPr algn="l">
              <a:lnSpc>
                <a:spcPct val="115000"/>
              </a:lnSpc>
              <a:spcAft>
                <a:spcPts val="1000"/>
              </a:spcAft>
              <a:defRPr sz="1600">
                <a:solidFill>
                  <a:srgbClr val="E6EBF0"/>
                </a:solidFill>
                <a:latin typeface="Calibri"/>
              </a:defRPr>
            </a:pPr>
            <a:r>
              <a:t>A typical pipeline can include source checkout, Terraform format and validation checks, infrastructure plan generation, approval gates for sensitive environments, apply execution, dynamic inventory preparation, and Ansible configuration runs.</a:t>
            </a:r>
          </a:p>
          <a:p>
            <a:pPr algn="l">
              <a:lnSpc>
                <a:spcPct val="115000"/>
              </a:lnSpc>
              <a:spcAft>
                <a:spcPts val="1000"/>
              </a:spcAft>
              <a:defRPr sz="1600">
                <a:solidFill>
                  <a:srgbClr val="E6EBF0"/>
                </a:solidFill>
                <a:latin typeface="Calibri"/>
              </a:defRPr>
            </a:pPr>
            <a:r>
              <a:t>By centralizing these steps in Jenkins, the platform reduces reliance on manual workstation-based execution and makes deployment behavior more visible to teams through build logs, stage status, and artifact retention.</a:t>
            </a:r>
          </a:p>
          <a:p>
            <a:pPr algn="l">
              <a:lnSpc>
                <a:spcPct val="115000"/>
              </a:lnSpc>
              <a:spcAft>
                <a:spcPts val="1000"/>
              </a:spcAft>
              <a:defRPr sz="1600">
                <a:solidFill>
                  <a:srgbClr val="E6EBF0"/>
                </a:solidFill>
                <a:latin typeface="Calibri"/>
              </a:defRPr>
            </a:pPr>
            <a:r>
              <a:t>Pipeline integration also enables policy-driven deployment practices such as branch-based promotion, role-based approvals, parameterized runs, and environment-specific variable injection, all of which become increasingly valuable as the platform matures.</a:t>
            </a:r>
          </a:p>
          <a:p>
            <a:pPr algn="l">
              <a:lnSpc>
                <a:spcPct val="115000"/>
              </a:lnSpc>
              <a:spcAft>
                <a:spcPts val="1000"/>
              </a:spcAft>
              <a:defRPr sz="1600">
                <a:solidFill>
                  <a:srgbClr val="E6EBF0"/>
                </a:solidFill>
                <a:latin typeface="Calibri"/>
              </a:defRPr>
            </a:pPr>
            <a:r>
              <a:t>For enterprise DevOps adoption, Jenkins helps connect infrastructure as code and middleware configuration into a single operational path where changes are repeatable, reviewable, and easier to hand over across teams.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502920" y="228600"/>
            <a:ext cx="11155680" cy="548640"/>
          </a:xfrm>
          <a:prstGeom prst="rect">
            <a:avLst/>
          </a:prstGeom>
          <a:noFill/>
        </p:spPr>
        <p:txBody>
          <a:bodyPr wrap="none">
            <a:spAutoFit/>
          </a:bodyPr>
          <a:lstStyle/>
          <a:p>
            <a:pPr algn="l"/>
            <a:r>
              <a:rPr sz="2400" b="1">
                <a:solidFill>
                  <a:srgbClr val="FF9900"/>
                </a:solidFill>
                <a:latin typeface="Calibri"/>
              </a:rPr>
              <a:t>Deployment Workflow Step-by-Step</a:t>
            </a:r>
          </a:p>
        </p:txBody>
      </p:sp>
      <p:sp>
        <p:nvSpPr>
          <p:cNvPr id="3" name="TextBox 2"/>
          <p:cNvSpPr txBox="1"/>
          <p:nvPr/>
        </p:nvSpPr>
        <p:spPr>
          <a:xfrm>
            <a:off x="640080" y="1051560"/>
            <a:ext cx="5486400" cy="521208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The workflow begins when the infrastructure repository is updated and a Jenkins job or authorized operator triggers the deployment pipeline, ensuring that all environment changes originate from version-controlled code instead of ad hoc actions.</a:t>
            </a:r>
          </a:p>
          <a:p>
            <a:pPr algn="l">
              <a:lnSpc>
                <a:spcPct val="115000"/>
              </a:lnSpc>
              <a:spcAft>
                <a:spcPts val="1000"/>
              </a:spcAft>
              <a:defRPr sz="1600">
                <a:solidFill>
                  <a:srgbClr val="E6EBF0"/>
                </a:solidFill>
                <a:latin typeface="Calibri"/>
              </a:defRPr>
            </a:pPr>
            <a:r>
              <a:t>Terraform initialization then loads the remote backend, providers, modules, and variables, after which validation and planning steps evaluate the desired changes against the current state stored in S3 with DynamoDB locking protection.</a:t>
            </a:r>
          </a:p>
          <a:p>
            <a:pPr algn="l">
              <a:lnSpc>
                <a:spcPct val="115000"/>
              </a:lnSpc>
              <a:spcAft>
                <a:spcPts val="1000"/>
              </a:spcAft>
              <a:defRPr sz="1600">
                <a:solidFill>
                  <a:srgbClr val="E6EBF0"/>
                </a:solidFill>
                <a:latin typeface="Calibri"/>
              </a:defRPr>
            </a:pPr>
            <a:r>
              <a:t>Once the plan is approved, Terraform apply provisions or updates the AWS network, security, and EC2 resources, producing outputs such as the bastion public IP and broker private IP addresses that can be consumed downstream.</a:t>
            </a:r>
          </a:p>
          <a:p>
            <a:pPr algn="l">
              <a:lnSpc>
                <a:spcPct val="115000"/>
              </a:lnSpc>
              <a:spcAft>
                <a:spcPts val="1000"/>
              </a:spcAft>
              <a:defRPr sz="1600">
                <a:solidFill>
                  <a:srgbClr val="E6EBF0"/>
                </a:solidFill>
                <a:latin typeface="Calibri"/>
              </a:defRPr>
            </a:pPr>
            <a:r>
              <a:t>The next stage uses Ansible to connect through the bastion path, configure operating system dependencies, deploy Kafka, write KRaft configuration, initialize cluster storage where required, and start or validate the broker services.</a:t>
            </a:r>
          </a:p>
          <a:p>
            <a:pPr algn="l">
              <a:lnSpc>
                <a:spcPct val="115000"/>
              </a:lnSpc>
              <a:spcAft>
                <a:spcPts val="1000"/>
              </a:spcAft>
              <a:defRPr sz="1600">
                <a:solidFill>
                  <a:srgbClr val="E6EBF0"/>
                </a:solidFill>
                <a:latin typeface="Calibri"/>
              </a:defRPr>
            </a:pPr>
            <a:r>
              <a:t>Finally, validation stages confirm infrastructure health, cluster formation, connectivity, topic operations, and log-level checks so that the platform is not only deployed but also functionally verified before being considered ready for use.</a:t>
            </a:r>
          </a:p>
        </p:txBody>
      </p:sp>
      <p:sp>
        <p:nvSpPr>
          <p:cNvPr id="4" name="Rectangle 3"/>
          <p:cNvSpPr/>
          <p:nvPr/>
        </p:nvSpPr>
        <p:spPr>
          <a:xfrm>
            <a:off x="6492240" y="1234440"/>
            <a:ext cx="4983480" cy="4526280"/>
          </a:xfrm>
          <a:prstGeom prst="rect">
            <a:avLst/>
          </a:prstGeom>
          <a:solidFill>
            <a:srgbClr val="464646"/>
          </a:solidFill>
          <a:ln>
            <a:solidFill>
              <a:srgbClr val="B9C3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E6EBF0"/>
                </a:solidFill>
                <a:latin typeface="Calibri"/>
              </a:rPr>
              <a:t>[ INSERT DIAGRAM / SCREENSHOT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502920" y="228600"/>
            <a:ext cx="11155680" cy="548640"/>
          </a:xfrm>
          <a:prstGeom prst="rect">
            <a:avLst/>
          </a:prstGeom>
          <a:noFill/>
        </p:spPr>
        <p:txBody>
          <a:bodyPr wrap="none">
            <a:spAutoFit/>
          </a:bodyPr>
          <a:lstStyle/>
          <a:p>
            <a:pPr algn="l"/>
            <a:r>
              <a:rPr sz="2400" b="1">
                <a:solidFill>
                  <a:srgbClr val="FF9900"/>
                </a:solidFill>
                <a:latin typeface="Calibri"/>
              </a:rPr>
              <a:t>Kafka Topic &amp; Cluster Validation</a:t>
            </a:r>
          </a:p>
        </p:txBody>
      </p:sp>
      <p:sp>
        <p:nvSpPr>
          <p:cNvPr id="3" name="TextBox 2"/>
          <p:cNvSpPr txBox="1"/>
          <p:nvPr/>
        </p:nvSpPr>
        <p:spPr>
          <a:xfrm>
            <a:off x="640080" y="1051560"/>
            <a:ext cx="5486400" cy="521208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Cluster validation begins with infrastructure-level checks such as confirming bastion accessibility, broker reachability over private networking, and the presence of expected instance, subnet, and security group associations after deployment.</a:t>
            </a:r>
          </a:p>
          <a:p>
            <a:pPr algn="l">
              <a:lnSpc>
                <a:spcPct val="115000"/>
              </a:lnSpc>
              <a:spcAft>
                <a:spcPts val="1000"/>
              </a:spcAft>
              <a:defRPr sz="1600">
                <a:solidFill>
                  <a:srgbClr val="E6EBF0"/>
                </a:solidFill>
                <a:latin typeface="Calibri"/>
              </a:defRPr>
            </a:pPr>
            <a:r>
              <a:t>At the Kafka layer, validation should confirm that broker processes are running, listeners are bound as intended, KRaft metadata initialization has completed, and inter-broker communication is functioning across the three-node topology.</a:t>
            </a:r>
          </a:p>
          <a:p>
            <a:pPr algn="l">
              <a:lnSpc>
                <a:spcPct val="115000"/>
              </a:lnSpc>
              <a:spcAft>
                <a:spcPts val="1000"/>
              </a:spcAft>
              <a:defRPr sz="1600">
                <a:solidFill>
                  <a:srgbClr val="E6EBF0"/>
                </a:solidFill>
                <a:latin typeface="Calibri"/>
              </a:defRPr>
            </a:pPr>
            <a:r>
              <a:t>Operational checks can include creating a test topic, describing the topic metadata, producing sample messages, consuming them from another session, and verifying that broker logs do not report controller quorum or listener misconfiguration issues.</a:t>
            </a:r>
          </a:p>
          <a:p>
            <a:pPr algn="l">
              <a:lnSpc>
                <a:spcPct val="115000"/>
              </a:lnSpc>
              <a:spcAft>
                <a:spcPts val="1000"/>
              </a:spcAft>
              <a:defRPr sz="1600">
                <a:solidFill>
                  <a:srgbClr val="E6EBF0"/>
                </a:solidFill>
                <a:latin typeface="Calibri"/>
              </a:defRPr>
            </a:pPr>
            <a:r>
              <a:t>These tests are important because infrastructure success alone does not guarantee platform readiness; true validation requires proving that Kafka can accept topic definitions and support end-to-end message flow through the deployed cluster.</a:t>
            </a:r>
          </a:p>
          <a:p>
            <a:pPr algn="l">
              <a:lnSpc>
                <a:spcPct val="115000"/>
              </a:lnSpc>
              <a:spcAft>
                <a:spcPts val="1000"/>
              </a:spcAft>
              <a:defRPr sz="1600">
                <a:solidFill>
                  <a:srgbClr val="E6EBF0"/>
                </a:solidFill>
                <a:latin typeface="Calibri"/>
              </a:defRPr>
            </a:pPr>
            <a:r>
              <a:t>Documented validation steps also improve enterprise operability because they provide a repeatable health checklist that can be run after every deployment, upgrade, failure recovery event, or environment recreation exercise.</a:t>
            </a:r>
          </a:p>
        </p:txBody>
      </p:sp>
      <p:sp>
        <p:nvSpPr>
          <p:cNvPr id="4" name="Rectangle 3"/>
          <p:cNvSpPr/>
          <p:nvPr/>
        </p:nvSpPr>
        <p:spPr>
          <a:xfrm>
            <a:off x="6492240" y="1234440"/>
            <a:ext cx="4983480" cy="4526280"/>
          </a:xfrm>
          <a:prstGeom prst="rect">
            <a:avLst/>
          </a:prstGeom>
          <a:solidFill>
            <a:srgbClr val="464646"/>
          </a:solidFill>
          <a:ln>
            <a:solidFill>
              <a:srgbClr val="B9C3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E6EBF0"/>
                </a:solidFill>
                <a:latin typeface="Calibri"/>
              </a:rPr>
              <a:t>[ INSERT DIAGRAM / SCREENSHOT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502920" y="228600"/>
            <a:ext cx="11155680" cy="548640"/>
          </a:xfrm>
          <a:prstGeom prst="rect">
            <a:avLst/>
          </a:prstGeom>
          <a:noFill/>
        </p:spPr>
        <p:txBody>
          <a:bodyPr wrap="none">
            <a:spAutoFit/>
          </a:bodyPr>
          <a:lstStyle/>
          <a:p>
            <a:pPr algn="l"/>
            <a:r>
              <a:rPr sz="2400" b="1">
                <a:solidFill>
                  <a:srgbClr val="FF9900"/>
                </a:solidFill>
                <a:latin typeface="Calibri"/>
              </a:rPr>
              <a:t>Demo Results &amp; End-to-End Execution</a:t>
            </a:r>
          </a:p>
        </p:txBody>
      </p:sp>
      <p:sp>
        <p:nvSpPr>
          <p:cNvPr id="3" name="TextBox 2"/>
          <p:cNvSpPr txBox="1"/>
          <p:nvPr/>
        </p:nvSpPr>
        <p:spPr>
          <a:xfrm>
            <a:off x="685800" y="1051560"/>
            <a:ext cx="10744200" cy="539496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The end-to-end demonstration shows that the platform can move from code-defined infrastructure to a running Kafka environment through a structured sequence of provisioning, configuration, and validation activities without relying on manual AWS console creation.</a:t>
            </a:r>
          </a:p>
          <a:p>
            <a:pPr algn="l">
              <a:lnSpc>
                <a:spcPct val="115000"/>
              </a:lnSpc>
              <a:spcAft>
                <a:spcPts val="1000"/>
              </a:spcAft>
              <a:defRPr sz="1600">
                <a:solidFill>
                  <a:srgbClr val="E6EBF0"/>
                </a:solidFill>
                <a:latin typeface="Calibri"/>
              </a:defRPr>
            </a:pPr>
            <a:r>
              <a:t>Terraform successfully creates the VPC, subnets, route tables, gateway resources, security groups, and EC2 instances with the expected naming and tagging conventions, which confirms alignment with architectural and governance requirements.</a:t>
            </a:r>
          </a:p>
          <a:p>
            <a:pPr algn="l">
              <a:lnSpc>
                <a:spcPct val="115000"/>
              </a:lnSpc>
              <a:spcAft>
                <a:spcPts val="1000"/>
              </a:spcAft>
              <a:defRPr sz="1600">
                <a:solidFill>
                  <a:srgbClr val="E6EBF0"/>
                </a:solidFill>
                <a:latin typeface="Calibri"/>
              </a:defRPr>
            </a:pPr>
            <a:r>
              <a:t>Ansible then configures the hosts and Kafka services on the provisioned broker nodes, demonstrating that infrastructure outputs and configuration automation can work together as a single platform delivery mechanism rather than isolated toolchains.</a:t>
            </a:r>
          </a:p>
          <a:p>
            <a:pPr algn="l">
              <a:lnSpc>
                <a:spcPct val="115000"/>
              </a:lnSpc>
              <a:spcAft>
                <a:spcPts val="1000"/>
              </a:spcAft>
              <a:defRPr sz="1600">
                <a:solidFill>
                  <a:srgbClr val="E6EBF0"/>
                </a:solidFill>
                <a:latin typeface="Calibri"/>
              </a:defRPr>
            </a:pPr>
            <a:r>
              <a:t>Validation steps such as broker accessibility through the bastion, Kafka process checks, and topic-level testing provide evidence that the architecture is not just syntactically correct in code but operationally usable after deployment.</a:t>
            </a:r>
          </a:p>
          <a:p>
            <a:pPr algn="l">
              <a:lnSpc>
                <a:spcPct val="115000"/>
              </a:lnSpc>
              <a:spcAft>
                <a:spcPts val="1000"/>
              </a:spcAft>
              <a:defRPr sz="1600">
                <a:solidFill>
                  <a:srgbClr val="E6EBF0"/>
                </a:solidFill>
                <a:latin typeface="Calibri"/>
              </a:defRPr>
            </a:pPr>
            <a:r>
              <a:t>From an enterprise perspective, the demo proves the viability of treating Kafka infrastructure as an automated platform pattern that can be documented, repeated, reviewed, and evolved over time with significantly less manual dependency.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502920" y="228600"/>
            <a:ext cx="11155680" cy="548640"/>
          </a:xfrm>
          <a:prstGeom prst="rect">
            <a:avLst/>
          </a:prstGeom>
          <a:noFill/>
        </p:spPr>
        <p:txBody>
          <a:bodyPr wrap="none">
            <a:spAutoFit/>
          </a:bodyPr>
          <a:lstStyle/>
          <a:p>
            <a:pPr algn="l"/>
            <a:r>
              <a:rPr sz="2400" b="1">
                <a:solidFill>
                  <a:srgbClr val="FF9900"/>
                </a:solidFill>
                <a:latin typeface="Calibri"/>
              </a:rPr>
              <a:t>Challenges &amp; Resolutions</a:t>
            </a:r>
          </a:p>
        </p:txBody>
      </p:sp>
      <p:sp>
        <p:nvSpPr>
          <p:cNvPr id="3" name="TextBox 2"/>
          <p:cNvSpPr txBox="1"/>
          <p:nvPr/>
        </p:nvSpPr>
        <p:spPr>
          <a:xfrm>
            <a:off x="685800" y="1051560"/>
            <a:ext cx="10744200" cy="539496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One common challenge is maintaining clear separation between public accessibility and private broker security, which is addressed through the bastion access model, private subnets, and controlled security group ingress rules limited to required paths.</a:t>
            </a:r>
          </a:p>
          <a:p>
            <a:pPr algn="l">
              <a:lnSpc>
                <a:spcPct val="115000"/>
              </a:lnSpc>
              <a:spcAft>
                <a:spcPts val="1000"/>
              </a:spcAft>
              <a:defRPr sz="1600">
                <a:solidFill>
                  <a:srgbClr val="E6EBF0"/>
                </a:solidFill>
                <a:latin typeface="Calibri"/>
              </a:defRPr>
            </a:pPr>
            <a:r>
              <a:t>Another challenge is preserving infrastructure consistency across repeated deployments, resolved by modular Terraform design, exact resource naming, mandatory tagging, and remote state management backed by S3 and DynamoDB locking.</a:t>
            </a:r>
          </a:p>
          <a:p>
            <a:pPr algn="l">
              <a:lnSpc>
                <a:spcPct val="115000"/>
              </a:lnSpc>
              <a:spcAft>
                <a:spcPts val="1000"/>
              </a:spcAft>
              <a:defRPr sz="1600">
                <a:solidFill>
                  <a:srgbClr val="E6EBF0"/>
                </a:solidFill>
                <a:latin typeface="Calibri"/>
              </a:defRPr>
            </a:pPr>
            <a:r>
              <a:t>Kafka deployment complexity increases further in distributed environments because listener settings, broker identity, and KRaft configuration must remain consistent; this is mitigated through Ansible-driven templating and repeatable host configuration tasks.</a:t>
            </a:r>
          </a:p>
          <a:p>
            <a:pPr algn="l">
              <a:lnSpc>
                <a:spcPct val="115000"/>
              </a:lnSpc>
              <a:spcAft>
                <a:spcPts val="1000"/>
              </a:spcAft>
              <a:defRPr sz="1600">
                <a:solidFill>
                  <a:srgbClr val="E6EBF0"/>
                </a:solidFill>
                <a:latin typeface="Calibri"/>
              </a:defRPr>
            </a:pPr>
            <a:r>
              <a:t>Operational coordination across multiple tools can also become fragmented, but integrating Terraform and Ansible stages into Jenkins helps establish a single orchestrated workflow with clearer logging, control points, and approval opportunities.</a:t>
            </a:r>
          </a:p>
          <a:p>
            <a:pPr algn="l">
              <a:lnSpc>
                <a:spcPct val="115000"/>
              </a:lnSpc>
              <a:spcAft>
                <a:spcPts val="1000"/>
              </a:spcAft>
              <a:defRPr sz="1600">
                <a:solidFill>
                  <a:srgbClr val="E6EBF0"/>
                </a:solidFill>
                <a:latin typeface="Calibri"/>
              </a:defRPr>
            </a:pPr>
            <a:r>
              <a:t>Together, these resolutions demonstrate that enterprise reliability comes not from one tool alone but from disciplined integration of infrastructure code, configuration management, access control, and post-deployment validation practices.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2832"/>
        </a:solidFill>
        <a:effectLst/>
      </p:bgPr>
    </p:bg>
    <p:spTree>
      <p:nvGrpSpPr>
        <p:cNvPr id="1" name=""/>
        <p:cNvGrpSpPr/>
        <p:nvPr/>
      </p:nvGrpSpPr>
      <p:grpSpPr/>
      <p:sp>
        <p:nvSpPr>
          <p:cNvPr id="2" name="TextBox 1"/>
          <p:cNvSpPr txBox="1"/>
          <p:nvPr/>
        </p:nvSpPr>
        <p:spPr>
          <a:xfrm>
            <a:off x="502920" y="228600"/>
            <a:ext cx="11155680" cy="548640"/>
          </a:xfrm>
          <a:prstGeom prst="rect">
            <a:avLst/>
          </a:prstGeom>
          <a:noFill/>
        </p:spPr>
        <p:txBody>
          <a:bodyPr wrap="none">
            <a:spAutoFit/>
          </a:bodyPr>
          <a:lstStyle/>
          <a:p>
            <a:pPr algn="l"/>
            <a:r>
              <a:rPr sz="2400" b="1">
                <a:solidFill>
                  <a:srgbClr val="FF9900"/>
                </a:solidFill>
                <a:latin typeface="Calibri"/>
              </a:rPr>
              <a:t>Future Scope &amp; Roadmap / Q&amp;A</a:t>
            </a:r>
          </a:p>
        </p:txBody>
      </p:sp>
      <p:sp>
        <p:nvSpPr>
          <p:cNvPr id="3" name="TextBox 2"/>
          <p:cNvSpPr txBox="1"/>
          <p:nvPr/>
        </p:nvSpPr>
        <p:spPr>
          <a:xfrm>
            <a:off x="685800" y="1051560"/>
            <a:ext cx="10744200" cy="5394960"/>
          </a:xfrm>
          <a:prstGeom prst="rect">
            <a:avLst/>
          </a:prstGeom>
          <a:noFill/>
        </p:spPr>
        <p:txBody>
          <a:bodyPr wrap="square">
            <a:normAutofit/>
          </a:bodyPr>
          <a:lstStyle/>
          <a:p>
            <a:pPr algn="l">
              <a:lnSpc>
                <a:spcPct val="115000"/>
              </a:lnSpc>
              <a:spcAft>
                <a:spcPts val="1000"/>
              </a:spcAft>
              <a:defRPr sz="1600">
                <a:solidFill>
                  <a:srgbClr val="E6EBF0"/>
                </a:solidFill>
                <a:latin typeface="Calibri"/>
              </a:defRPr>
            </a:pPr>
            <a:r>
              <a:t>The next phase of the platform can include monitoring and observability integration using tools such as Prometheus, Grafana, CloudWatch agents, and centralized log pipelines to improve runtime visibility and operational diagnostics.</a:t>
            </a:r>
          </a:p>
          <a:p>
            <a:pPr algn="l">
              <a:lnSpc>
                <a:spcPct val="115000"/>
              </a:lnSpc>
              <a:spcAft>
                <a:spcPts val="1000"/>
              </a:spcAft>
              <a:defRPr sz="1600">
                <a:solidFill>
                  <a:srgbClr val="E6EBF0"/>
                </a:solidFill>
                <a:latin typeface="Calibri"/>
              </a:defRPr>
            </a:pPr>
            <a:r>
              <a:t>Security can be further enhanced through tighter SSH controls, IAM-driven access patterns, secrets management, encrypted volumes, TLS-enabled Kafka listeners, and automation for compliance checks across infrastructure and service layers.</a:t>
            </a:r>
          </a:p>
          <a:p>
            <a:pPr algn="l">
              <a:lnSpc>
                <a:spcPct val="115000"/>
              </a:lnSpc>
              <a:spcAft>
                <a:spcPts val="1000"/>
              </a:spcAft>
              <a:defRPr sz="1600">
                <a:solidFill>
                  <a:srgbClr val="E6EBF0"/>
                </a:solidFill>
                <a:latin typeface="Calibri"/>
              </a:defRPr>
            </a:pPr>
            <a:r>
              <a:t>Scalability improvements may include broker storage optimization, parameterized environment expansion, reusable Terraform workspaces, enhanced Ansible roles, and standardized CI/CD promotion paths across development, staging, and production tiers.</a:t>
            </a:r>
          </a:p>
          <a:p>
            <a:pPr algn="l">
              <a:lnSpc>
                <a:spcPct val="115000"/>
              </a:lnSpc>
              <a:spcAft>
                <a:spcPts val="1000"/>
              </a:spcAft>
              <a:defRPr sz="1600">
                <a:solidFill>
                  <a:srgbClr val="E6EBF0"/>
                </a:solidFill>
                <a:latin typeface="Calibri"/>
              </a:defRPr>
            </a:pPr>
            <a:r>
              <a:t>Future enterprise capabilities could also cover schema registry integration, topic governance workflows, backup and disaster recovery automation, and self-service deployment patterns for application teams consuming the Kafka platform.</a:t>
            </a:r>
          </a:p>
          <a:p>
            <a:pPr algn="l">
              <a:lnSpc>
                <a:spcPct val="115000"/>
              </a:lnSpc>
              <a:spcAft>
                <a:spcPts val="1000"/>
              </a:spcAft>
              <a:defRPr sz="1600">
                <a:solidFill>
                  <a:srgbClr val="E6EBF0"/>
                </a:solidFill>
                <a:latin typeface="Calibri"/>
              </a:defRPr>
            </a:pPr>
            <a:r>
              <a:t>This concludes the architecture overview and opens the discussion for questions, feedback, roadmap priorities, and possible enhancements based on operational, learning, or enterprise delivery goals.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